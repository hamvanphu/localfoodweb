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D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FPT · AIX PROGRAM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Native for FA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AI application framework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3950208"/>
            <a:ext cx="2834640" cy="0"/>
          </a:xfrm>
          <a:prstGeom prst="line">
            <a:avLst/>
          </a:prstGeom>
          <a:noFill/>
          <a:ln w="25400">
            <a:solidFill>
              <a:srgbClr val="C982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330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draft for framework review · 07/2026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FA stands and what AIX must achieve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21992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58647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219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EXISTS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77063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capability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29184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AI-native PM enablement program is already designed and running.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1901952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2221992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2E6CB4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2219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MANDATE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77063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AIX ownership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329184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 now needs a broader AI transformation plan, extending from people into delivery and customer-facing outcomes.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0" y="1901952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32520" y="2221992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C9821A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22219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REQUIRED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32520" y="277063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to end-2026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732520" y="329184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AI to internal delivery and customer value with measurable business outcomes.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881360" cy="768096"/>
          </a:xfrm>
          <a:prstGeom prst="roundRect">
            <a:avLst>
              <a:gd name="adj" fmla="val 10714"/>
            </a:avLst>
          </a:prstGeom>
          <a:solidFill>
            <a:srgbClr val="142B4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74920"/>
            <a:ext cx="10332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scorecard: every initiative must be expressed through the FPT-style 6-Ro logic — problem, mission, deadline, result, owner, and budget.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AI pillars with one governance base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7780">
            <a:solidFill>
              <a:srgbClr val="2E6CB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457200" cy="457200"/>
          </a:xfrm>
          <a:prstGeom prst="ellipse">
            <a:avLst/>
          </a:prstGeom>
          <a:solidFill>
            <a:srgbClr val="2E6CB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0848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for Delivery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64261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E6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 · internal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044952"/>
            <a:ext cx="2788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2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improve delivery productivity across coding, testing, review, documentation, and PM operations.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960120" y="4233672"/>
            <a:ext cx="2788920" cy="402336"/>
          </a:xfrm>
          <a:prstGeom prst="roundRect">
            <a:avLst>
              <a:gd name="adj" fmla="val 11364"/>
            </a:avLst>
          </a:prstGeom>
          <a:solidFill>
            <a:srgbClr val="E4ECF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23367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up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26280" y="1783080"/>
            <a:ext cx="34290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7780">
            <a:solidFill>
              <a:srgbClr val="C9821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103120"/>
            <a:ext cx="457200" cy="45720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20848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for Customer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264261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AI-out · revenue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044952"/>
            <a:ext cx="2788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2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AI into customer-facing features, offerings, and win-rate advantage.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4846320" y="4233672"/>
            <a:ext cx="2788920" cy="402336"/>
          </a:xfrm>
          <a:prstGeom prst="roundRect">
            <a:avLst>
              <a:gd name="adj" fmla="val 11364"/>
            </a:avLst>
          </a:prstGeom>
          <a:solidFill>
            <a:srgbClr val="F6EBD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423367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up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12480" y="1783080"/>
            <a:ext cx="34290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7780">
            <a:solidFill>
              <a:srgbClr val="58647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32520" y="2103120"/>
            <a:ext cx="457200" cy="457200"/>
          </a:xfrm>
          <a:prstGeom prst="ellipse">
            <a:avLst/>
          </a:prstGeom>
          <a:solidFill>
            <a:srgbClr val="586472"/>
          </a:solidFill>
          <a:ln/>
        </p:spPr>
      </p:sp>
      <p:sp>
        <p:nvSpPr>
          <p:cNvPr id="22" name="Text 20"/>
          <p:cNvSpPr/>
          <p:nvPr/>
        </p:nvSpPr>
        <p:spPr>
          <a:xfrm>
            <a:off x="8732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81160" y="20848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for People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732520" y="264261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8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32520" y="3044952"/>
            <a:ext cx="2788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2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human operating capability needed to make A and B real at scale.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8732520" y="4233672"/>
            <a:ext cx="2788920" cy="402336"/>
          </a:xfrm>
          <a:prstGeom prst="roundRect">
            <a:avLst>
              <a:gd name="adj" fmla="val 11364"/>
            </a:avLst>
          </a:prstGeom>
          <a:solidFill>
            <a:srgbClr val="E9ECEF"/>
          </a:solidFill>
          <a:ln/>
        </p:spPr>
      </p:sp>
      <p:sp>
        <p:nvSpPr>
          <p:cNvPr id="27" name="Text 25"/>
          <p:cNvSpPr/>
          <p:nvPr/>
        </p:nvSpPr>
        <p:spPr>
          <a:xfrm>
            <a:off x="8732520" y="423367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 and B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074920"/>
            <a:ext cx="10881360" cy="731520"/>
          </a:xfrm>
          <a:prstGeom prst="roundRect">
            <a:avLst>
              <a:gd name="adj" fmla="val 11250"/>
            </a:avLst>
          </a:prstGeom>
          <a:solidFill>
            <a:srgbClr val="F5F7FA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layer: governance, policy, telemetry, security, tool/IP rules, and budget discipline. For the next six months, practical focus sits on A and B, enabled by C.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enablement already in motion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PM AI Bootcamp provides the operating capability base for the wider AIX plan.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450592" cy="896112"/>
          </a:xfrm>
          <a:prstGeom prst="roundRect">
            <a:avLst>
              <a:gd name="adj" fmla="val 8163"/>
            </a:avLst>
          </a:prstGeom>
          <a:solidFill>
            <a:srgbClr val="F5F7FA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5623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8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200-300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49808" y="228600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in scope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438144" y="1783080"/>
            <a:ext cx="2450592" cy="896112"/>
          </a:xfrm>
          <a:prstGeom prst="roundRect">
            <a:avLst>
              <a:gd name="adj" fmla="val 8163"/>
            </a:avLst>
          </a:prstGeom>
          <a:solidFill>
            <a:srgbClr val="F5F7FA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85623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8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47872" y="228600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tracks: PM / BA / SA / Dev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36208" y="1783080"/>
            <a:ext cx="2450592" cy="896112"/>
          </a:xfrm>
          <a:prstGeom prst="roundRect">
            <a:avLst>
              <a:gd name="adj" fmla="val 8163"/>
            </a:avLst>
          </a:prstGeom>
          <a:solidFill>
            <a:srgbClr val="F5F7FA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85623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8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 weeks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45936" y="228600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 + 4 weeks + 4 weeks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9034272" y="1783080"/>
            <a:ext cx="2450592" cy="896112"/>
          </a:xfrm>
          <a:prstGeom prst="roundRect">
            <a:avLst>
              <a:gd name="adj" fmla="val 8163"/>
            </a:avLst>
          </a:prstGeom>
          <a:solidFill>
            <a:srgbClr val="F5F7FA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185623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8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waves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144000" y="228600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rollout approach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40080" y="3154680"/>
            <a:ext cx="5715000" cy="512064"/>
          </a:xfrm>
          <a:prstGeom prst="roundRect">
            <a:avLst>
              <a:gd name="adj" fmla="val 10714"/>
            </a:avLst>
          </a:prstGeom>
          <a:solidFill>
            <a:srgbClr val="E9ECEF"/>
          </a:solidFill>
          <a:ln w="12700">
            <a:solidFill>
              <a:srgbClr val="5864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154680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</a:t>
            </a:r>
            <a:pPr indent="0" marL="0">
              <a:buNone/>
            </a:pPr>
            <a:r>
              <a:rPr lang="en-US" sz="122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Mindset  </a:t>
            </a:r>
            <a:pPr indent="0" marL="0">
              <a:buNone/>
            </a:pPr>
            <a:r>
              <a:rPr lang="en-US" sz="122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CASAN, L0-L5, AI-first mindset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40080" y="3813048"/>
            <a:ext cx="5715000" cy="512064"/>
          </a:xfrm>
          <a:prstGeom prst="roundRect">
            <a:avLst>
              <a:gd name="adj" fmla="val 10714"/>
            </a:avLst>
          </a:prstGeom>
          <a:solidFill>
            <a:srgbClr val="E9ECEF"/>
          </a:solidFill>
          <a:ln w="12700">
            <a:solidFill>
              <a:srgbClr val="5864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813048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</a:t>
            </a:r>
            <a:pPr indent="0" marL="0">
              <a:buNone/>
            </a:pPr>
            <a:r>
              <a:rPr lang="en-US" sz="122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</a:t>
            </a:r>
            <a:pPr indent="0" marL="0">
              <a:buNone/>
            </a:pPr>
            <a:r>
              <a:rPr lang="en-US" sz="122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Assignments, telemetry, governance practice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40080" y="4471416"/>
            <a:ext cx="5715000" cy="512064"/>
          </a:xfrm>
          <a:prstGeom prst="roundRect">
            <a:avLst>
              <a:gd name="adj" fmla="val 10714"/>
            </a:avLst>
          </a:prstGeom>
          <a:solidFill>
            <a:srgbClr val="E9ECEF"/>
          </a:solidFill>
          <a:ln w="12700">
            <a:solidFill>
              <a:srgbClr val="5864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4471416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</a:t>
            </a:r>
            <a:pPr indent="0" marL="0">
              <a:buNone/>
            </a:pPr>
            <a:r>
              <a:rPr lang="en-US" sz="122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 </a:t>
            </a:r>
            <a:pPr indent="0" marL="0">
              <a:buNone/>
            </a:pPr>
            <a:r>
              <a:rPr lang="en-US" sz="122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Customer Zero + Dev Book + viva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6720840" y="28529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graduation gates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720840" y="3182112"/>
            <a:ext cx="48006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0568" y="3209544"/>
            <a:ext cx="457200" cy="45720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26" name="Text 24"/>
          <p:cNvSpPr/>
          <p:nvPr/>
        </p:nvSpPr>
        <p:spPr>
          <a:xfrm>
            <a:off x="68305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88352" y="3182112"/>
            <a:ext cx="3968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score across 6 pillars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6720840" y="3840480"/>
            <a:ext cx="48006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30568" y="3867912"/>
            <a:ext cx="457200" cy="45720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30" name="Text 28"/>
          <p:cNvSpPr/>
          <p:nvPr/>
        </p:nvSpPr>
        <p:spPr>
          <a:xfrm>
            <a:off x="6830568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88352" y="3840480"/>
            <a:ext cx="3968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working system</a:t>
            </a:r>
            <a:endParaRPr lang="en-US" sz="1230" dirty="0"/>
          </a:p>
        </p:txBody>
      </p:sp>
      <p:sp>
        <p:nvSpPr>
          <p:cNvPr id="32" name="Shape 30"/>
          <p:cNvSpPr/>
          <p:nvPr/>
        </p:nvSpPr>
        <p:spPr>
          <a:xfrm>
            <a:off x="6720840" y="4498848"/>
            <a:ext cx="48006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30568" y="4526280"/>
            <a:ext cx="457200" cy="45720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34" name="Text 32"/>
          <p:cNvSpPr/>
          <p:nvPr/>
        </p:nvSpPr>
        <p:spPr>
          <a:xfrm>
            <a:off x="6830568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388352" y="4498848"/>
            <a:ext cx="3968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defense</a:t>
            </a:r>
            <a:endParaRPr lang="en-US" sz="1230" dirty="0"/>
          </a:p>
        </p:txBody>
      </p:sp>
      <p:sp>
        <p:nvSpPr>
          <p:cNvPr id="36" name="Text 34"/>
          <p:cNvSpPr/>
          <p:nvPr/>
        </p:nvSpPr>
        <p:spPr>
          <a:xfrm>
            <a:off x="6720840" y="5175504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graduation if one of the three gates is missing.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Pillar C connects to AIX business outcomes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920240" y="1783080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2E6CB4"/>
          </a:solidFill>
          <a:ln w="15875">
            <a:solidFill>
              <a:srgbClr val="2E6C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1856232"/>
            <a:ext cx="26517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920240" y="2099097"/>
            <a:ext cx="2651760" cy="22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A business result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616952" y="1783080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C9821A"/>
          </a:solidFill>
          <a:ln w="15875">
            <a:solidFill>
              <a:srgbClr val="C98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16952" y="1856232"/>
            <a:ext cx="26517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rate 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16952" y="2099097"/>
            <a:ext cx="2651760" cy="22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B business result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920240" y="2743200"/>
            <a:ext cx="2651760" cy="731520"/>
          </a:xfrm>
          <a:prstGeom prst="roundRect">
            <a:avLst>
              <a:gd name="adj" fmla="val 8750"/>
            </a:avLst>
          </a:prstGeom>
          <a:solidFill>
            <a:srgbClr val="E4ECF7"/>
          </a:solidFill>
          <a:ln w="15875">
            <a:solidFill>
              <a:srgbClr val="2E6C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28163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cost down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3094330"/>
            <a:ext cx="265176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output per real hour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16952" y="2743200"/>
            <a:ext cx="2651760" cy="731520"/>
          </a:xfrm>
          <a:prstGeom prst="roundRect">
            <a:avLst>
              <a:gd name="adj" fmla="val 8750"/>
            </a:avLst>
          </a:prstGeom>
          <a:solidFill>
            <a:srgbClr val="F6EBD6"/>
          </a:solidFill>
          <a:ln w="15875">
            <a:solidFill>
              <a:srgbClr val="C98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952" y="28163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Faster, stronger proposals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16952" y="3094330"/>
            <a:ext cx="265176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AI-supported customer value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920240" y="3703320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5875">
            <a:solidFill>
              <a:srgbClr val="2E6C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3776472"/>
            <a:ext cx="26517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adoption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920240" y="4215384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5875">
            <a:solidFill>
              <a:srgbClr val="2E6C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4288536"/>
            <a:ext cx="26517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920240" y="4727448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5875">
            <a:solidFill>
              <a:srgbClr val="2E6C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4800600"/>
            <a:ext cx="26517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Rework / review time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16952" y="3703320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5875">
            <a:solidFill>
              <a:srgbClr val="C982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16952" y="3776472"/>
            <a:ext cx="26517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Use-case count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16952" y="4215384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5875">
            <a:solidFill>
              <a:srgbClr val="C982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16952" y="4288536"/>
            <a:ext cx="26517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-&gt; production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16952" y="4727448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5875">
            <a:solidFill>
              <a:srgbClr val="C982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16952" y="4800600"/>
            <a:ext cx="26517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AI-shaped deals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874520" y="5705856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E9ECEF"/>
          </a:solidFill>
          <a:ln w="15875">
            <a:solidFill>
              <a:srgbClr val="5864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570585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C base: certification, adoption, telemetry discipline, and real AI operating capability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46120" y="2441448"/>
            <a:ext cx="0" cy="274320"/>
          </a:xfrm>
          <a:prstGeom prst="line">
            <a:avLst/>
          </a:prstGeom>
          <a:noFill/>
          <a:ln w="25400">
            <a:solidFill>
              <a:srgbClr val="2E6CB4"/>
            </a:solidFill>
            <a:prstDash val="solid"/>
            <a:headEnd type="triangle"/>
          </a:ln>
        </p:spPr>
      </p:sp>
      <p:sp>
        <p:nvSpPr>
          <p:cNvPr id="31" name="Shape 29"/>
          <p:cNvSpPr/>
          <p:nvPr/>
        </p:nvSpPr>
        <p:spPr>
          <a:xfrm>
            <a:off x="8942832" y="2441448"/>
            <a:ext cx="0" cy="274320"/>
          </a:xfrm>
          <a:prstGeom prst="line">
            <a:avLst/>
          </a:prstGeom>
          <a:noFill/>
          <a:ln w="25400">
            <a:solidFill>
              <a:srgbClr val="C9821A"/>
            </a:solidFill>
            <a:prstDash val="solid"/>
            <a:headEnd type="triangle"/>
          </a:ln>
        </p:spPr>
      </p:sp>
      <p:sp>
        <p:nvSpPr>
          <p:cNvPr id="32" name="Shape 30"/>
          <p:cNvSpPr/>
          <p:nvPr/>
        </p:nvSpPr>
        <p:spPr>
          <a:xfrm>
            <a:off x="3246120" y="3474720"/>
            <a:ext cx="0" cy="210312"/>
          </a:xfrm>
          <a:prstGeom prst="line">
            <a:avLst/>
          </a:prstGeom>
          <a:noFill/>
          <a:ln w="25400">
            <a:solidFill>
              <a:srgbClr val="2E6CB4"/>
            </a:solidFill>
            <a:prstDash val="solid"/>
            <a:headEnd type="triangle"/>
          </a:ln>
        </p:spPr>
      </p:sp>
      <p:sp>
        <p:nvSpPr>
          <p:cNvPr id="33" name="Shape 31"/>
          <p:cNvSpPr/>
          <p:nvPr/>
        </p:nvSpPr>
        <p:spPr>
          <a:xfrm>
            <a:off x="8942832" y="3474720"/>
            <a:ext cx="0" cy="210312"/>
          </a:xfrm>
          <a:prstGeom prst="line">
            <a:avLst/>
          </a:prstGeom>
          <a:noFill/>
          <a:ln w="25400">
            <a:solidFill>
              <a:srgbClr val="C9821A"/>
            </a:solidFill>
            <a:prstDash val="solid"/>
            <a:head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Q3-Q4 2026 priorities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47088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389120"/>
                <a:gridCol w="4389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Q3 · 7-9/2026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Q4 · 10-12/2026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F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Delivery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CB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and run pilot projects. Establish measurable delivery productivity cases.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what works and turn it into repeatable playbooks or offerings.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7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Customer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2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AI visible in offer and proposal work where allowed.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pushing customer-facing AI value and win-rate proof points.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People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4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early training batches and measure real adoption after training.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later batches and build the champion community.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policy, tool, IP, and dashboard rules.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mid-point review and end-of-year outcome review.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principle: monthly progress reporting and quarterly outcome review.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D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still needed for a detailed plan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E3A63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176272"/>
            <a:ext cx="502920" cy="50292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83080" y="20756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 unit and domain scope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83080" y="247802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the exact FA context and domain focus to shape use-case selection.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446520" y="18745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E3A63"/>
          </a:solidFill>
          <a:ln/>
        </p:spPr>
      </p:sp>
      <p:sp>
        <p:nvSpPr>
          <p:cNvPr id="11" name="Shape 9"/>
          <p:cNvSpPr/>
          <p:nvPr/>
        </p:nvSpPr>
        <p:spPr>
          <a:xfrm>
            <a:off x="6720840" y="2176272"/>
            <a:ext cx="502920" cy="50292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06640" y="20756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numbers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06640" y="247802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rough current margin and win-rate baselines for attribution.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822960" y="3593592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E3A6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3895344"/>
            <a:ext cx="502920" cy="50292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895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7947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Q3-Q4 opportunity pipeline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83080" y="4197096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known pilot accounts or proposal moments where AI can be tested.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6446520" y="3593592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E3A63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0840" y="3895344"/>
            <a:ext cx="502920" cy="50292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3895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06640" y="37947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and budget assumptions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06640" y="4197096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the practical boundary for licenses, governance, and specialist support.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822960" y="5623560"/>
            <a:ext cx="10561320" cy="768096"/>
          </a:xfrm>
          <a:prstGeom prst="roundRect">
            <a:avLst>
              <a:gd name="adj" fmla="val 9524"/>
            </a:avLst>
          </a:prstGeom>
          <a:solidFill>
            <a:srgbClr val="C9821A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5623560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these are fixed, the team can complete the KPI tree and fill the 6-Ro table for the 3-5 priority initiatives.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AIX for FA — 2026 framework (English)</dc:title>
  <dc:subject>PptxGenJS Presentation</dc:subject>
  <dc:creator>AIX FA</dc:creator>
  <cp:lastModifiedBy>AIX FA</cp:lastModifiedBy>
  <cp:revision>1</cp:revision>
  <dcterms:created xsi:type="dcterms:W3CDTF">2026-07-14T04:40:37Z</dcterms:created>
  <dcterms:modified xsi:type="dcterms:W3CDTF">2026-07-14T04:40:37Z</dcterms:modified>
</cp:coreProperties>
</file>