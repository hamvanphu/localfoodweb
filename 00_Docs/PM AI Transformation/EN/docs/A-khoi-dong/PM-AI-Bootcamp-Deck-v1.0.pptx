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120640" cy="5120640"/>
          </a:xfrm>
          <a:prstGeom prst="ellipse">
            <a:avLst/>
          </a:prstGeom>
          <a:ln w="15240">
            <a:solidFill>
              <a:srgbClr val="3A76C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731520"/>
            <a:ext cx="3291840" cy="3291840"/>
          </a:xfrm>
          <a:prstGeom prst="ellipse">
            <a:avLst/>
          </a:prstGeom>
          <a:ln w="19050">
            <a:solidFill>
              <a:srgbClr val="E07B2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625328" y="91440"/>
            <a:ext cx="1737360" cy="1737360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625328" y="914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FSOFT AIX  ·  AI TRANSFORMATION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AI Bootcamp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48640" y="299923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9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PM Transformation Program - English Edition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712464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project managers into AI-native PMs who can direct AI to build, operate, and govern real delivery systems.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736592"/>
            <a:ext cx="5623560" cy="548640"/>
          </a:xfrm>
          <a:prstGeom prst="roundRect">
            <a:avLst>
              <a:gd name="adj" fmla="val 50000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4736592"/>
            <a:ext cx="5623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  ·   AI-first   ·   Outcome-first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144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scope: folder A-khoi-dong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"PMs who know ChatGPT"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FBECD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84248"/>
            <a:ext cx="566928" cy="566928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36192" y="19842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target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715768"/>
            <a:ext cx="4617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 chatbot for quick answers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without delivery ownership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AI on top of unchanged legacy workflows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Rubber-stamping AI output without real review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75120" y="1984248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42632" y="19842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 train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20840" y="2715768"/>
            <a:ext cx="4617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projects in an AI-first operating model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 AI to build and operate a real system slice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delegation, governance, and telemetry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outcome and ROI decisions with evidence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v1.0 - English overview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200-300 PMs move to CASAN Level 2 (Augmented)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1737360"/>
          </a:xfrm>
          <a:prstGeom prst="roundRect">
            <a:avLst>
              <a:gd name="adj" fmla="val 4737"/>
            </a:avLst>
          </a:prstGeom>
          <a:solidFill>
            <a:srgbClr val="12294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90195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200-300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75888"/>
            <a:ext cx="2743200" cy="1737360"/>
          </a:xfrm>
          <a:prstGeom prst="roundRect">
            <a:avLst>
              <a:gd name="adj" fmla="val 4737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3794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4645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core, with selected PMs reaching Level 3-4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1691640"/>
            <a:ext cx="2538984" cy="2834640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566160" y="1691640"/>
            <a:ext cx="2538984" cy="640080"/>
          </a:xfrm>
          <a:prstGeom prst="roundRect">
            <a:avLst>
              <a:gd name="adj" fmla="val 12857"/>
            </a:avLst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94760" y="1691640"/>
            <a:ext cx="2081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22192" y="2560320"/>
            <a:ext cx="2026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AI build + governance + telemetry + ROI, without rubber-stamping.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33744" y="1691640"/>
            <a:ext cx="2538984" cy="2834640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33744" y="1691640"/>
            <a:ext cx="2538984" cy="640080"/>
          </a:xfrm>
          <a:prstGeom prst="roundRect">
            <a:avLst>
              <a:gd name="adj" fmla="val 12857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62344" y="1691640"/>
            <a:ext cx="2081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9776" y="2560320"/>
            <a:ext cx="2026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Customer Zero slice with a Dev Book and real telemetry.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01328" y="1691640"/>
            <a:ext cx="2538984" cy="2834640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01328" y="1691640"/>
            <a:ext cx="2538984" cy="640080"/>
          </a:xfrm>
          <a:prstGeom prst="roundRect">
            <a:avLst>
              <a:gd name="adj" fmla="val 12857"/>
            </a:avLst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329928" y="1691640"/>
            <a:ext cx="2081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57360" y="2560320"/>
            <a:ext cx="2026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PM certification, distinction path, and follow-on AI budget.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66160" y="4736592"/>
            <a:ext cx="8074152" cy="1051560"/>
          </a:xfrm>
          <a:prstGeom prst="roundRect">
            <a:avLst>
              <a:gd name="adj" fmla="val 7826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886200" y="4736592"/>
            <a:ext cx="7434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bring: </a:t>
            </a:r>
            <a:pPr indent="0" marL="0">
              <a:buNone/>
            </a:pPr>
            <a:r>
              <a:rPr lang="en-US" sz="132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project (or one of six briefs), a AI Coding Agent account, a safe workspace, and nine weeks of practical commitment. Prior coding experience is not required.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v1.0 - English overview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Human-led  ·  AI-first  ·  Outcome-first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92424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103120"/>
            <a:ext cx="676656" cy="676656"/>
          </a:xfrm>
          <a:prstGeom prst="ellipse">
            <a:avLst/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10312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9864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Human-led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02152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decide, judge risk, and own the outcome.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98264" y="1783080"/>
            <a:ext cx="3392424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18304" y="2103120"/>
            <a:ext cx="676656" cy="676656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0312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72584" y="289864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AI-first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72584" y="3502152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and executes first; humans review and steer the next step.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47888" y="1783080"/>
            <a:ext cx="3392424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567928" y="2103120"/>
            <a:ext cx="676656" cy="676656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67928" y="210312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22208" y="289864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Outcome-first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22208" y="3502152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quality, speed, margin, and learning matter more than tool activity.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498348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model: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deployable unit is the pair (PM + AI). The PM acts as the conductor; AI acts as the production force.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v1.0 - English overview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CASAN maturity + AI delegation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114800"/>
            <a:ext cx="2057400" cy="1508760"/>
          </a:xfrm>
          <a:prstGeom prst="roundRect">
            <a:avLst>
              <a:gd name="adj" fmla="val 5455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4242816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Curious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901184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AI use, no workflow, no measurement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25496" y="3511296"/>
            <a:ext cx="2057400" cy="2112264"/>
          </a:xfrm>
          <a:prstGeom prst="roundRect">
            <a:avLst>
              <a:gd name="adj" fmla="val 4000"/>
            </a:avLst>
          </a:prstGeom>
          <a:solidFill>
            <a:srgbClr val="E07B2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90088" y="3639312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90088" y="3922776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90088" y="4297680"/>
            <a:ext cx="172821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supports work inside the standard process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98064" y="3054096"/>
            <a:ext cx="2112264" cy="347472"/>
          </a:xfrm>
          <a:prstGeom prst="roundRect">
            <a:avLst>
              <a:gd name="adj" fmla="val 23684"/>
            </a:avLst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98064" y="3054096"/>
            <a:ext cx="2112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FOR THE COHORT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92624" y="2907792"/>
            <a:ext cx="2057400" cy="2715768"/>
          </a:xfrm>
          <a:prstGeom prst="roundRect">
            <a:avLst>
              <a:gd name="adj" fmla="val 4000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157216" y="3035808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57216" y="3319272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57216" y="3694176"/>
            <a:ext cx="172821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workflows are normalized team-wide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59752" y="2304288"/>
            <a:ext cx="2057400" cy="3319272"/>
          </a:xfrm>
          <a:prstGeom prst="roundRect">
            <a:avLst>
              <a:gd name="adj" fmla="val 4000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24344" y="2432304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24344" y="271576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24344" y="3090672"/>
            <a:ext cx="1728216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bounded workflows with gates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26880" y="1700784"/>
            <a:ext cx="2057400" cy="3922776"/>
          </a:xfrm>
          <a:prstGeom prst="roundRect">
            <a:avLst>
              <a:gd name="adj" fmla="val 4000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491472" y="1828800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491472" y="2112264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491472" y="2487168"/>
            <a:ext cx="1728216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delivery at organizational scale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178308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302752" y="19385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Delegation ladder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02752" y="2340864"/>
            <a:ext cx="29260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Observe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Draft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Recommend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Execute (bounded)  ≈  leash 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Operate workflow  ≈  leash A+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is intentionally not granted for high-risk zones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v1.0 - English overview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Coding Agent as the Super Orchestrator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do not use AI as a simple chat box. They use AI Coding Agent to carry a whole step: read context, plan, delegate, execute, gate, and log.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481328" cy="1353312"/>
          </a:xfrm>
          <a:prstGeom prst="roundRect">
            <a:avLst>
              <a:gd name="adj" fmla="val 6081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76656" y="24688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7980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3163824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context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2029968" y="2377440"/>
            <a:ext cx="12039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50364" y="2377440"/>
            <a:ext cx="1481328" cy="1353312"/>
          </a:xfrm>
          <a:prstGeom prst="roundRect">
            <a:avLst>
              <a:gd name="adj" fmla="val 6081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78380" y="24688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41804" y="27980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23516" y="3163824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plan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3631692" y="2377440"/>
            <a:ext cx="12039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52088" y="2377440"/>
            <a:ext cx="1481328" cy="1353312"/>
          </a:xfrm>
          <a:prstGeom prst="roundRect">
            <a:avLst>
              <a:gd name="adj" fmla="val 6081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880104" y="24688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43528" y="27980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25240" y="3163824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A/A+ bounds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5233416" y="2377440"/>
            <a:ext cx="12039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353812" y="2377440"/>
            <a:ext cx="1481328" cy="1353312"/>
          </a:xfrm>
          <a:prstGeom prst="roundRect">
            <a:avLst>
              <a:gd name="adj" fmla="val 6081"/>
            </a:avLst>
          </a:prstGeom>
          <a:solidFill>
            <a:srgbClr val="1D4E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1828" y="24688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45252" y="27980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26964" y="3163824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task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835140" y="2377440"/>
            <a:ext cx="12039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955536" y="2377440"/>
            <a:ext cx="1481328" cy="1353312"/>
          </a:xfrm>
          <a:prstGeom prst="roundRect">
            <a:avLst>
              <a:gd name="adj" fmla="val 6081"/>
            </a:avLst>
          </a:prstGeom>
          <a:solidFill>
            <a:srgbClr val="E07B2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083552" y="24688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046976" y="27980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28688" y="3163824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closed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8436864" y="2377440"/>
            <a:ext cx="12039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557260" y="2377440"/>
            <a:ext cx="1481328" cy="1353312"/>
          </a:xfrm>
          <a:prstGeom prst="roundRect">
            <a:avLst>
              <a:gd name="adj" fmla="val 6081"/>
            </a:avLst>
          </a:prstGeom>
          <a:solidFill>
            <a:srgbClr val="E07B2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685276" y="24688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648700" y="27980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30412" y="3163824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Book + telemetry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10038588" y="2377440"/>
            <a:ext cx="12039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158984" y="2377440"/>
            <a:ext cx="1481328" cy="1353312"/>
          </a:xfrm>
          <a:prstGeom prst="roundRect">
            <a:avLst>
              <a:gd name="adj" fmla="val 6081"/>
            </a:avLst>
          </a:prstGeom>
          <a:solidFill>
            <a:srgbClr val="3A76C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287000" y="24688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250424" y="27980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232136" y="3163824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loop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48640" y="43434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22960" y="4553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goal, not ten micro-actions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22960" y="48828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Agent reads files, runs commands, calls tools, and records the loop so the PM can focus on judgment.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144768" y="4343400"/>
            <a:ext cx="5495544" cy="1234440"/>
          </a:xfrm>
          <a:prstGeom prst="roundRect">
            <a:avLst>
              <a:gd name="adj" fmla="val 6667"/>
            </a:avLst>
          </a:prstGeom>
          <a:solidFill>
            <a:srgbClr val="5A3212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19088" y="45537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autonomy requires tighter gates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419088" y="488289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is not there to remove accountability. It is there to free time for review, decisions, and risk control.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864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v1.0 - English overview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8311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phases over roughly nine weeks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09544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28800"/>
            <a:ext cx="3209544" cy="841248"/>
          </a:xfrm>
          <a:prstGeom prst="roundRect">
            <a:avLst>
              <a:gd name="adj" fmla="val 9783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938528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212848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day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86384" y="2871216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Mindset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86384" y="3456432"/>
            <a:ext cx="2734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Mindset, CASAN, L0-L5, why we measure real human hours.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3758184" y="1828800"/>
            <a:ext cx="7315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489704" y="1828800"/>
            <a:ext cx="3209544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489704" y="1828800"/>
            <a:ext cx="3209544" cy="841248"/>
          </a:xfrm>
          <a:prstGeom prst="roundRect">
            <a:avLst>
              <a:gd name="adj" fmla="val 9783"/>
            </a:avLst>
          </a:prstGeom>
          <a:solidFill>
            <a:srgbClr val="12294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90872" y="1938528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90872" y="2212848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weeks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27448" y="2871216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727448" y="3456432"/>
            <a:ext cx="2734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exercises + capstone + 10 assignments across the SDLC with delegation and governance.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699248" y="1828800"/>
            <a:ext cx="7315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8430768" y="1828800"/>
            <a:ext cx="3209544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430768" y="1828800"/>
            <a:ext cx="3209544" cy="841248"/>
          </a:xfrm>
          <a:prstGeom prst="roundRect">
            <a:avLst>
              <a:gd name="adj" fmla="val 9783"/>
            </a:avLst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31936" y="1938528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31936" y="2212848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weeks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668512" y="2871216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0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668512" y="3456432"/>
            <a:ext cx="2734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Customer Zero, keep a Dev Book, and defend it in viva.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1672" cy="786384"/>
          </a:xfrm>
          <a:prstGeom prst="roundRect">
            <a:avLst>
              <a:gd name="adj" fmla="val 10465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5349240"/>
            <a:ext cx="10451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graduation gates: </a:t>
            </a:r>
            <a:pPr indent="0" marL="0">
              <a:buNone/>
            </a:pPr>
            <a:r>
              <a:rPr lang="en-US" sz="13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pass the six capability pillars, 2) show a working system live, and 3) pass viva. Missing one gate means no graduation.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v1.0 - English overview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311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(WEEKS 1-3)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modules and ten assignments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23744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938528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08176" y="1737360"/>
            <a:ext cx="15361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Foundation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55264" y="1737360"/>
            <a:ext cx="2523744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438144" y="1938528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38144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1737360"/>
            <a:ext cx="15361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Toolchain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61888" y="1737360"/>
            <a:ext cx="2523744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44768" y="1938528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44768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21424" y="1737360"/>
            <a:ext cx="15361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Project Workflow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68512" y="1737360"/>
            <a:ext cx="2523744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851392" y="1938528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51392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28048" y="1737360"/>
            <a:ext cx="15361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907792"/>
            <a:ext cx="2523744" cy="969264"/>
          </a:xfrm>
          <a:prstGeom prst="roundRect">
            <a:avLst>
              <a:gd name="adj" fmla="val 8491"/>
            </a:avLst>
          </a:prstGeom>
          <a:solidFill>
            <a:srgbClr val="FBECD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1520" y="3108960"/>
            <a:ext cx="566928" cy="566928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31520" y="3108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08176" y="2907792"/>
            <a:ext cx="15361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Delegation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55264" y="2907792"/>
            <a:ext cx="2523744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438144" y="3108960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38144" y="3108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114800" y="2907792"/>
            <a:ext cx="15361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Governance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61888" y="2907792"/>
            <a:ext cx="2523744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144768" y="3108960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144768" y="3108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21424" y="2907792"/>
            <a:ext cx="15361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Telemetry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668512" y="2907792"/>
            <a:ext cx="2523744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851392" y="3108960"/>
            <a:ext cx="566928" cy="566928"/>
          </a:xfrm>
          <a:prstGeom prst="ellipse">
            <a:avLst/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851392" y="3108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528048" y="2907792"/>
            <a:ext cx="15361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Economics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4297680"/>
            <a:ext cx="11091672" cy="1664208"/>
          </a:xfrm>
          <a:prstGeom prst="roundRect">
            <a:avLst>
              <a:gd name="adj" fmla="val 4945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68680" y="4480560"/>
            <a:ext cx="104515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rhythm: </a:t>
            </a:r>
            <a:pPr indent="0" marL="0">
              <a:buNone/>
            </a:pPr>
            <a:r>
              <a:rPr lang="en-US" sz="134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requirements, W2 WBS-estimation-risk, W3 delegation-governance, W4 telemetry-ROI. Each week includes a clinic and a showcase.</a:t>
            </a:r>
            <a:endParaRPr lang="en-US" sz="1340" dirty="0"/>
          </a:p>
          <a:p>
            <a:pPr indent="0" marL="0">
              <a:buNone/>
            </a:pPr>
            <a:r>
              <a:rPr lang="en-US" sz="134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Assignments: </a:t>
            </a:r>
            <a:pPr indent="0" marL="0">
              <a:buNone/>
            </a:pPr>
            <a:r>
              <a:rPr lang="en-US" sz="134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real-project tasks such as requirements, WBS, estimation, risks, reports, meeting summaries, retrospectives, and a delivery dashboard. Every submission includes prompts, evidence, and telemetry.</a:t>
            </a:r>
            <a:endParaRPr lang="en-US" sz="1340" dirty="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v1.0 - English overview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8311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Customer Zero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pilot, no graduation. The pilot is not a pile of AI-generated documents; it is a working vertical slice that the PM directs and then personally uses.</a:t>
            </a:r>
            <a:endParaRPr lang="en-US" sz="153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392424" cy="2697480"/>
          </a:xfrm>
          <a:prstGeom prst="roundRect">
            <a:avLst>
              <a:gd name="adj" fmla="val 3051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587752"/>
            <a:ext cx="603504" cy="603504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58775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26440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to understand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3776472"/>
            <a:ext cx="2880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understanding appears when the PM sees gates fail, spec conflicts surface, and AI mistakes must be corrected.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398264" y="2331720"/>
            <a:ext cx="3392424" cy="2697480"/>
          </a:xfrm>
          <a:prstGeom prst="roundRect">
            <a:avLst>
              <a:gd name="adj" fmla="val 3051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72584" y="2587752"/>
            <a:ext cx="603504" cy="603504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72584" y="258775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54296" y="326440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Mandatory evidence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54296" y="3776472"/>
            <a:ext cx="2880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system, Dev Book, real telemetry, and an operating log from self-use as Customer Zero.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8247888" y="2331720"/>
            <a:ext cx="3392424" cy="2697480"/>
          </a:xfrm>
          <a:prstGeom prst="roundRect">
            <a:avLst>
              <a:gd name="adj" fmla="val 3051"/>
            </a:avLst>
          </a:prstGeom>
          <a:solidFill>
            <a:srgbClr val="1B3A6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522208" y="2587752"/>
            <a:ext cx="603504" cy="603504"/>
          </a:xfrm>
          <a:prstGeom prst="ellipse">
            <a:avLst/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22208" y="258775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326440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defense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03920" y="3776472"/>
            <a:ext cx="2880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PM answers viva questions such as: where did AI fail, what gate caught it, and why did you choose L3 instead of L4?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548640" y="5358384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5A3212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5358384"/>
            <a:ext cx="10451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intentionally rewards visible human judgment, not polished AI output.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v1.0 - English overview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&amp; ROLLOUT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Telemetry, certification, and the four-wave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77640" cy="2926080"/>
          </a:xfrm>
          <a:prstGeom prst="roundRect">
            <a:avLst>
              <a:gd name="adj" fmla="val 2813"/>
            </a:avLst>
          </a:prstGeom>
          <a:solidFill>
            <a:srgbClr val="12294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901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measure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77824" y="2286000"/>
            <a:ext cx="33467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8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human hours, not token proxies</a:t>
            </a:r>
            <a:endParaRPr lang="en-US" sz="128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8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and token efficiency</a:t>
            </a:r>
            <a:endParaRPr lang="en-US" sz="128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8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Adoption, rework, estimation accuracy, quality</a:t>
            </a:r>
            <a:endParaRPr lang="en-US" sz="128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80" dirty="0">
                <a:solidFill>
                  <a:srgbClr val="E9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and ROI at project level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4846320" y="1737360"/>
            <a:ext cx="6793992" cy="1234440"/>
          </a:xfrm>
          <a:prstGeom prst="roundRect">
            <a:avLst>
              <a:gd name="adj" fmla="val 6667"/>
            </a:avLst>
          </a:prstGeom>
          <a:solidFill>
            <a:srgbClr val="E9F1F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102352" y="1901952"/>
            <a:ext cx="6281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path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02352" y="2249424"/>
            <a:ext cx="6281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-&gt; Proficient -&gt; Distinction -&gt; Champion, with one-time bonus and monthly AI Coding Agent budget.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5029200" y="324612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1D4E8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0" y="32461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0" y="3264408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200-300 PMs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5029200" y="3867912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A76C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0" y="386791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388620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pilots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5029200" y="4489704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E07B2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0" y="448970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4507992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champions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5029200" y="5111496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F2A65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0" y="511149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5129784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program leaders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548640" y="5138928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4F8F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5138928"/>
            <a:ext cx="10451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 package includes this deck, the A4 infographic, and the English program overview markdown/PDF for quick sharing.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AI Bootcamp v1.0 - English overview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AI Bootcamp v1.0 - English Overview</dc:title>
  <dc:subject>English translation of the A-khoi-dong materials</dc:subject>
  <dc:creator>FSoft AIX - AI Transformation</dc:creator>
  <cp:lastModifiedBy>FSoft AIX - AI Transformation</cp:lastModifiedBy>
  <cp:revision>1</cp:revision>
  <dcterms:created xsi:type="dcterms:W3CDTF">2026-07-14T04:14:38Z</dcterms:created>
  <dcterms:modified xsi:type="dcterms:W3CDTF">2026-07-14T04:14:38Z</dcterms:modified>
</cp:coreProperties>
</file>